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411480"/>
            <a:ext cx="2743200" cy="274320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1143000"/>
            <a:ext cx="1143000" cy="1143000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06840" y="5166360"/>
            <a:ext cx="1920240" cy="1920240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" y="5989320"/>
            <a:ext cx="1005840" cy="1005840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65836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BEB4"/>
                </a:solidFill>
                <a:latin typeface="Aptos"/>
              </a:defRPr>
            </a:pPr>
            <a:r>
              <a:t>INTERNSHIP •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7132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ptos Display"/>
              </a:defRPr>
            </a:pPr>
            <a:r>
              <a:t>StudyMate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7680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0">
                <a:solidFill>
                  <a:srgbClr val="DCE1F5"/>
                </a:solidFill>
                <a:latin typeface="Aptos"/>
              </a:defRPr>
            </a:pPr>
            <a:r>
              <a:t>Student Study Planner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154680"/>
            <a:ext cx="6172200" cy="1143000"/>
          </a:xfrm>
          <a:prstGeom prst="roundRect">
            <a:avLst/>
          </a:prstGeom>
          <a:solidFill>
            <a:srgbClr val="1F2A48"/>
          </a:solidFill>
          <a:ln>
            <a:solidFill>
              <a:srgbClr val="3A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383280"/>
            <a:ext cx="5623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Python Full Stack Development With Project Virtual Internship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6126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Manika Vashishtha  •  2410030772</a:t>
            </a:r>
            <a:br/>
            <a:r>
              <a:t>B.Tech CSE  •  IILM University, Greater Noida</a:t>
            </a:r>
            <a:br/>
            <a:r>
              <a:t>April –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074920"/>
            <a:ext cx="3840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DCE1F5"/>
                </a:solidFill>
                <a:latin typeface="Aptos"/>
              </a:defRPr>
            </a:pPr>
            <a:r>
              <a:t>A practical journey from learning → building → presenting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856D6"/>
                </a:solidFill>
                <a:latin typeface="Aptos"/>
              </a:defRPr>
            </a:pPr>
            <a:r>
              <a:t>INTERNSHIP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C34"/>
                </a:solidFill>
                <a:latin typeface="Aptos Display"/>
              </a:defRPr>
            </a:pPr>
            <a:r>
              <a:t>From learning to a working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1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Oval 5"/>
          <p:cNvSpPr/>
          <p:nvPr/>
        </p:nvSpPr>
        <p:spPr>
          <a:xfrm>
            <a:off x="1691640" y="1600200"/>
            <a:ext cx="822960" cy="82296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78308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41C34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97184"/>
                </a:solidFill>
                <a:latin typeface="Aptos"/>
              </a:defRPr>
            </a:pPr>
            <a:r>
              <a:t>HTML • CSS • JavaScript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011680"/>
            <a:ext cx="914400" cy="0"/>
          </a:xfrm>
          <a:prstGeom prst="line">
            <a:avLst/>
          </a:prstGeom>
          <a:ln w="19050">
            <a:solidFill>
              <a:srgbClr val="69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480559" y="1600200"/>
            <a:ext cx="822960" cy="822960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78308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265176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41C34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3154680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97184"/>
                </a:solidFill>
                <a:latin typeface="Aptos"/>
              </a:defRPr>
            </a:pPr>
            <a:r>
              <a:t>StudyMate interface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49240" y="2011680"/>
            <a:ext cx="914400" cy="0"/>
          </a:xfrm>
          <a:prstGeom prst="line">
            <a:avLst/>
          </a:prstGeom>
          <a:ln w="19050">
            <a:solidFill>
              <a:srgbClr val="69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269479" y="1600200"/>
            <a:ext cx="822960" cy="822960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79" y="178308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65176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41C34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154680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97184"/>
                </a:solidFill>
                <a:latin typeface="Aptos"/>
              </a:defRPr>
            </a:pPr>
            <a:r>
              <a:t>Debug • refine • improve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38159" y="2011680"/>
            <a:ext cx="914400" cy="0"/>
          </a:xfrm>
          <a:prstGeom prst="line">
            <a:avLst/>
          </a:prstGeom>
          <a:ln w="19050">
            <a:solidFill>
              <a:srgbClr val="69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10058400" y="1600200"/>
            <a:ext cx="822960" cy="82296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78308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65176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41C34"/>
                </a:solidFill>
                <a:latin typeface="Aptos"/>
              </a:defRPr>
            </a:pPr>
            <a:r>
              <a:t>Present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154680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97184"/>
                </a:solidFill>
                <a:latin typeface="Aptos"/>
              </a:defRPr>
            </a:pPr>
            <a:r>
              <a:t>Project • outcomes • learnings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709160"/>
            <a:ext cx="10012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919472"/>
            <a:ext cx="9646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41C34"/>
                </a:solidFill>
                <a:latin typeface="Aptos"/>
              </a:defRPr>
            </a:pPr>
            <a:r>
              <a:t>8 weeks  •  EduSkills Academy  •  AICTE–EduSkills Virtual Internship  •  Grade: O (Outstanding)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856D6"/>
                </a:solidFill>
                <a:latin typeface="Aptos"/>
              </a:defRPr>
            </a:pPr>
            <a:r>
              <a:t>WHY THIS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C34"/>
                </a:solidFill>
                <a:latin typeface="Aptos Display"/>
              </a:defRPr>
            </a:pPr>
            <a:r>
              <a:t>What I wanted to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1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1828800"/>
            <a:ext cx="594360" cy="59436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41C34"/>
                </a:solidFill>
                <a:latin typeface="Aptos"/>
              </a:defRPr>
            </a:pPr>
            <a:r>
              <a:t>Web 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258568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7184"/>
                </a:solidFill>
                <a:latin typeface="Aptos"/>
              </a:defRPr>
            </a:pPr>
            <a:r>
              <a:t>Understand practical web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9672" y="1828800"/>
            <a:ext cx="594360" cy="594360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9842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41C34"/>
                </a:solidFill>
                <a:latin typeface="Aptos"/>
              </a:defRPr>
            </a:pPr>
            <a:r>
              <a:t>Hands-on 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258568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7184"/>
                </a:solidFill>
                <a:latin typeface="Aptos"/>
              </a:defRPr>
            </a:pPr>
            <a:r>
              <a:t>Turn concepts into working pages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" y="3886200"/>
            <a:ext cx="594360" cy="594360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041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8404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41C34"/>
                </a:solidFill>
                <a:latin typeface="Aptos"/>
              </a:defRPr>
            </a:pPr>
            <a:r>
              <a:t>Problem solving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315968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7184"/>
                </a:solidFill>
                <a:latin typeface="Aptos"/>
              </a:defRPr>
            </a:pPr>
            <a:r>
              <a:t>Debug and improve functionality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5661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4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19672" y="3886200"/>
            <a:ext cx="594360" cy="59436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40416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8404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41C34"/>
                </a:solidFill>
                <a:latin typeface="Aptos"/>
              </a:defRPr>
            </a:pPr>
            <a:r>
              <a:t>Project 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315968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7184"/>
                </a:solidFill>
                <a:latin typeface="Aptos"/>
              </a:defRPr>
            </a:pPr>
            <a:r>
              <a:t>Apply skills in StudyMate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856D6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C34"/>
                </a:solidFill>
                <a:latin typeface="Aptos Display"/>
              </a:defRPr>
            </a:pPr>
            <a:r>
              <a:t>Students juggle too many study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1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846320" cy="4069080"/>
          </a:xfrm>
          <a:prstGeom prst="roundRect">
            <a:avLst/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57D68"/>
                </a:solidFill>
                <a:latin typeface="Aptos"/>
              </a:defRPr>
            </a:pPr>
            <a:r>
              <a:t>WITHOUT A SIMPLE PLANNER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514600"/>
            <a:ext cx="201168" cy="201168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4688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937"/>
                </a:solidFill>
                <a:latin typeface="Aptos"/>
              </a:defRPr>
            </a:pPr>
            <a:r>
              <a:t>Subjects in different places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3200400"/>
            <a:ext cx="201168" cy="201168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1546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937"/>
                </a:solidFill>
                <a:latin typeface="Aptos"/>
              </a:defRPr>
            </a:pPr>
            <a:r>
              <a:t>Tasks easy to forget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3886200"/>
            <a:ext cx="201168" cy="201168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404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937"/>
                </a:solidFill>
                <a:latin typeface="Aptos"/>
              </a:defRPr>
            </a:pPr>
            <a:r>
              <a:t>Schedules hard to track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4572000"/>
            <a:ext cx="201168" cy="201168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45262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937"/>
                </a:solidFill>
                <a:latin typeface="Aptos"/>
              </a:defRPr>
            </a:pPr>
            <a:r>
              <a:t>Manual planning takes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9260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5856D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554480"/>
            <a:ext cx="4846320" cy="4069080"/>
          </a:xfrm>
          <a:prstGeom prst="roundRect">
            <a:avLst/>
          </a:prstGeom>
          <a:solidFill>
            <a:srgbClr val="E1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18288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CBEB4"/>
                </a:solidFill>
                <a:latin typeface="Aptos"/>
              </a:defRPr>
            </a:pPr>
            <a:r>
              <a:t>WITH STUDYMATE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2514600"/>
            <a:ext cx="201168" cy="201168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4688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937"/>
                </a:solidFill>
                <a:latin typeface="Aptos"/>
              </a:defRPr>
            </a:pPr>
            <a:r>
              <a:t>Subjects organized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0" y="3200400"/>
            <a:ext cx="201168" cy="201168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31546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937"/>
                </a:solidFill>
                <a:latin typeface="Aptos"/>
              </a:defRPr>
            </a:pPr>
            <a:r>
              <a:t>Tasks visible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0" y="3886200"/>
            <a:ext cx="201168" cy="201168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38404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937"/>
                </a:solidFill>
                <a:latin typeface="Aptos"/>
              </a:defRPr>
            </a:pPr>
            <a:r>
              <a:t>Schedule in one place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4572000"/>
            <a:ext cx="201168" cy="201168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4526280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937"/>
                </a:solidFill>
                <a:latin typeface="Aptos"/>
              </a:defRPr>
            </a:pPr>
            <a:r>
              <a:t>Simple student-friendly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856D6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C34"/>
                </a:solidFill>
                <a:latin typeface="Aptos Display"/>
              </a:defRPr>
            </a:pPr>
            <a:r>
              <a:t>Meet StudyMate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18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6629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1737360"/>
            <a:ext cx="6080760" cy="502920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56231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StudyMate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56231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DCE1F5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13632" y="1856231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DCE1F5"/>
                </a:solidFill>
                <a:latin typeface="Aptos"/>
              </a:defRPr>
            </a:pPr>
            <a:r>
              <a:t>Subjects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4" y="1856231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DCE1F5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8736" y="1856231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DCE1F5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2606040"/>
            <a:ext cx="1691640" cy="1143000"/>
          </a:xfrm>
          <a:prstGeom prst="roundRect">
            <a:avLst/>
          </a:prstGeom>
          <a:solidFill>
            <a:srgbClr val="E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81635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97184"/>
                </a:solidFill>
                <a:latin typeface="Aptos"/>
              </a:defRPr>
            </a:pPr>
            <a:r>
              <a:t>Subjects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82112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5856D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81528" y="2606040"/>
            <a:ext cx="1691640" cy="1143000"/>
          </a:xfrm>
          <a:prstGeom prst="roundRect">
            <a:avLst/>
          </a:prstGeom>
          <a:solidFill>
            <a:srgbClr val="E1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281635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97184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182112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2CBEB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0056" y="2606040"/>
            <a:ext cx="1691640" cy="1143000"/>
          </a:xfrm>
          <a:prstGeom prst="roundRect">
            <a:avLst/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57216" y="281635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697184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3182112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F57D68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4069080"/>
            <a:ext cx="5577840" cy="1234440"/>
          </a:xfrm>
          <a:prstGeom prst="roundRect">
            <a:avLst/>
          </a:prstGeom>
          <a:solidFill>
            <a:srgbClr val="F7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297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41C34"/>
                </a:solidFill>
                <a:latin typeface="Aptos"/>
              </a:defRPr>
            </a:pPr>
            <a:r>
              <a:t>Today’s study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0916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97184"/>
                </a:solidFill>
                <a:latin typeface="Aptos"/>
              </a:defRPr>
            </a:pPr>
            <a:r>
              <a:t>DSA practice     •     CSS revision     •     JavaScript task</a:t>
            </a:r>
          </a:p>
        </p:txBody>
      </p:sp>
      <p:sp>
        <p:nvSpPr>
          <p:cNvPr id="25" name="Oval 24"/>
          <p:cNvSpPr/>
          <p:nvPr/>
        </p:nvSpPr>
        <p:spPr>
          <a:xfrm>
            <a:off x="8001000" y="1508760"/>
            <a:ext cx="502920" cy="50292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65506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1581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1C34"/>
                </a:solidFill>
                <a:latin typeface="Aptos"/>
              </a:defRPr>
            </a:pPr>
            <a:r>
              <a:t>Subjects</a:t>
            </a:r>
          </a:p>
        </p:txBody>
      </p:sp>
      <p:sp>
        <p:nvSpPr>
          <p:cNvPr id="28" name="Oval 27"/>
          <p:cNvSpPr/>
          <p:nvPr/>
        </p:nvSpPr>
        <p:spPr>
          <a:xfrm>
            <a:off x="8001000" y="2496312"/>
            <a:ext cx="502920" cy="502920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264261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56946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1C34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31" name="Oval 30"/>
          <p:cNvSpPr/>
          <p:nvPr/>
        </p:nvSpPr>
        <p:spPr>
          <a:xfrm>
            <a:off x="8001000" y="3483864"/>
            <a:ext cx="502920" cy="502920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363016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55701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1C34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34" name="Oval 33"/>
          <p:cNvSpPr/>
          <p:nvPr/>
        </p:nvSpPr>
        <p:spPr>
          <a:xfrm>
            <a:off x="8001000" y="4471416"/>
            <a:ext cx="502920" cy="50292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46177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54456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1C34"/>
                </a:solidFill>
                <a:latin typeface="Aptos"/>
              </a:defRPr>
            </a:pPr>
            <a:r>
              <a:t>Clean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856D6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C34"/>
                </a:solidFill>
                <a:latin typeface="Aptos Display"/>
              </a:defRPr>
            </a:pPr>
            <a:r>
              <a:t>Three core technologies, one development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1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6492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1600200"/>
            <a:ext cx="594360" cy="59436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64792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58191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1C34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58191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7184"/>
                </a:solidFill>
                <a:latin typeface="Aptos"/>
              </a:defRPr>
            </a:pPr>
            <a:r>
              <a:t>Pages + sections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51760"/>
            <a:ext cx="6492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3000" y="2834640"/>
            <a:ext cx="594360" cy="594360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99232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81635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1C34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816352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7184"/>
                </a:solidFill>
                <a:latin typeface="Aptos"/>
              </a:defRPr>
            </a:pPr>
            <a:r>
              <a:t>Layout + visual style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86200"/>
            <a:ext cx="6492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3000" y="4069080"/>
            <a:ext cx="594360" cy="594360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233672"/>
            <a:ext cx="594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050791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41C34"/>
                </a:solidFill>
                <a:latin typeface="Aptos"/>
              </a:defRPr>
            </a:pPr>
            <a:r>
              <a:t>Interaction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050791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7184"/>
                </a:solidFill>
                <a:latin typeface="Aptos"/>
              </a:defRPr>
            </a:pPr>
            <a:r>
              <a:t>Behavior + functionality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417320"/>
            <a:ext cx="3337560" cy="3429000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783080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2CBEB4"/>
                </a:solidFill>
                <a:latin typeface="Aptos"/>
              </a:defRPr>
            </a:pPr>
            <a:r>
              <a:t>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331720"/>
            <a:ext cx="2606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Visual</a:t>
            </a:r>
            <a:br/>
            <a:r>
              <a:t>Studio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749039"/>
            <a:ext cx="2606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CE1F5"/>
                </a:solidFill>
                <a:latin typeface="Aptos"/>
              </a:defRPr>
            </a:pPr>
            <a:r>
              <a:t>Code → Run → Inspect → Debug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343400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CBEB4"/>
                </a:solidFill>
                <a:latin typeface="Aptos"/>
              </a:defRPr>
            </a:pPr>
            <a:r>
              <a:t>Browser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856D6"/>
                </a:solidFill>
                <a:latin typeface="Aptos"/>
              </a:defRPr>
            </a:pPr>
            <a:r>
              <a:t>HOW IT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C34"/>
                </a:solidFill>
                <a:latin typeface="Aptos Display"/>
              </a:defRPr>
            </a:pPr>
            <a:r>
              <a:t>Simple front-end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1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72768" y="2359152"/>
            <a:ext cx="502920" cy="50292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07791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1C34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36391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97184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37160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15968" y="1536192"/>
            <a:ext cx="502920" cy="50292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08483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1C34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31343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97184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97180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15968" y="3136392"/>
            <a:ext cx="502920" cy="502920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368503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1C34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91363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97184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19456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2359152"/>
            <a:ext cx="502920" cy="502920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907791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1C34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36391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97184"/>
                </a:solidFill>
                <a:latin typeface="Aptos"/>
              </a:defRPr>
            </a:pPr>
            <a:r>
              <a:t>Interaction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194560"/>
            <a:ext cx="1828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02368" y="2359152"/>
            <a:ext cx="502920" cy="50292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2907791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41C34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136391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97184"/>
                </a:solidFill>
                <a:latin typeface="Aptos"/>
              </a:defRPr>
            </a:pPr>
            <a:r>
              <a:t>Working UI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743200" y="1874519"/>
            <a:ext cx="914400" cy="868681"/>
          </a:xfrm>
          <a:prstGeom prst="line">
            <a:avLst/>
          </a:prstGeom>
          <a:ln w="19050">
            <a:solidFill>
              <a:srgbClr val="69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0" y="1874519"/>
            <a:ext cx="914400" cy="868681"/>
          </a:xfrm>
          <a:prstGeom prst="line">
            <a:avLst/>
          </a:prstGeom>
          <a:ln w="19050">
            <a:solidFill>
              <a:srgbClr val="69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486400" y="2743200"/>
            <a:ext cx="914400" cy="731520"/>
          </a:xfrm>
          <a:prstGeom prst="line">
            <a:avLst/>
          </a:prstGeom>
          <a:ln w="19050">
            <a:solidFill>
              <a:srgbClr val="69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0" y="2743200"/>
            <a:ext cx="914400" cy="0"/>
          </a:xfrm>
          <a:prstGeom prst="line">
            <a:avLst/>
          </a:prstGeom>
          <a:ln w="19050">
            <a:solidFill>
              <a:srgbClr val="69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88720" y="4983480"/>
            <a:ext cx="9784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697184"/>
                </a:solidFill>
                <a:latin typeface="Aptos"/>
              </a:defRPr>
            </a:pPr>
            <a:r>
              <a:t>The user interacts with the browser; HTML structures the content, CSS styles it, and JavaScript adds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856D6"/>
                </a:solidFill>
                <a:latin typeface="Aptos"/>
              </a:defRPr>
            </a:pPr>
            <a:r>
              <a:t>BUILD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C34"/>
                </a:solidFill>
                <a:latin typeface="Aptos Display"/>
              </a:defRPr>
            </a:pPr>
            <a:r>
              <a:t>Plan → code → test → improve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1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Chevron 5"/>
          <p:cNvSpPr/>
          <p:nvPr/>
        </p:nvSpPr>
        <p:spPr>
          <a:xfrm>
            <a:off x="822960" y="1965960"/>
            <a:ext cx="2240280" cy="1828800"/>
          </a:xfrm>
          <a:prstGeom prst="chevron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42316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907792"/>
            <a:ext cx="1645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Requirements &amp; layout</a:t>
            </a:r>
          </a:p>
        </p:txBody>
      </p:sp>
      <p:sp>
        <p:nvSpPr>
          <p:cNvPr id="9" name="Chevron 8"/>
          <p:cNvSpPr/>
          <p:nvPr/>
        </p:nvSpPr>
        <p:spPr>
          <a:xfrm>
            <a:off x="3611879" y="1965960"/>
            <a:ext cx="2240280" cy="1828800"/>
          </a:xfrm>
          <a:prstGeom prst="chevron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242316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2907792"/>
            <a:ext cx="1645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HTML + CSS + JS</a:t>
            </a:r>
          </a:p>
        </p:txBody>
      </p:sp>
      <p:sp>
        <p:nvSpPr>
          <p:cNvPr id="12" name="Chevron 11"/>
          <p:cNvSpPr/>
          <p:nvPr/>
        </p:nvSpPr>
        <p:spPr>
          <a:xfrm>
            <a:off x="6400800" y="1965960"/>
            <a:ext cx="2240280" cy="1828800"/>
          </a:xfrm>
          <a:prstGeom prst="chevron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42316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07792"/>
            <a:ext cx="1645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Run &amp; inspect</a:t>
            </a:r>
          </a:p>
        </p:txBody>
      </p:sp>
      <p:sp>
        <p:nvSpPr>
          <p:cNvPr id="15" name="Chevron 14"/>
          <p:cNvSpPr/>
          <p:nvPr/>
        </p:nvSpPr>
        <p:spPr>
          <a:xfrm>
            <a:off x="9189719" y="1965960"/>
            <a:ext cx="2240280" cy="1828800"/>
          </a:xfrm>
          <a:prstGeom prst="chevron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0888" y="242316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IMPROVE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4311" y="2907792"/>
            <a:ext cx="1645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Fix &amp; refine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141C34"/>
                </a:solidFill>
                <a:latin typeface="Aptos"/>
              </a:defRPr>
            </a:pPr>
            <a:r>
              <a:t>Repeat the loop until the interface is clear, functional and ready to demonstrate.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856D6"/>
                </a:solidFill>
                <a:latin typeface="Aptos"/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C34"/>
                </a:solidFill>
                <a:latin typeface="Aptos Display"/>
              </a:defRPr>
            </a:pPr>
            <a:r>
              <a:t>Four parts of the StudyMate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18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5146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45920"/>
            <a:ext cx="2148840" cy="256032"/>
          </a:xfrm>
          <a:prstGeom prst="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28216"/>
            <a:ext cx="73152" cy="73152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1728216"/>
            <a:ext cx="73152" cy="73152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1728216"/>
            <a:ext cx="73152" cy="73152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240280"/>
            <a:ext cx="1965960" cy="914400"/>
          </a:xfrm>
          <a:prstGeom prst="roundRect">
            <a:avLst/>
          </a:prstGeom>
          <a:solidFill>
            <a:srgbClr val="E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856D6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97184"/>
                </a:solidFill>
                <a:latin typeface="Aptos"/>
              </a:defRPr>
            </a:pPr>
            <a:r>
              <a:t>Welcome /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800600"/>
            <a:ext cx="1645920" cy="109728"/>
          </a:xfrm>
          <a:prstGeom prst="rect">
            <a:avLst/>
          </a:prstGeom>
          <a:solidFill>
            <a:srgbClr val="E1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5029200"/>
            <a:ext cx="1371600" cy="109728"/>
          </a:xfrm>
          <a:prstGeom prst="rect">
            <a:avLst/>
          </a:prstGeom>
          <a:solidFill>
            <a:srgbClr val="E1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5257800"/>
            <a:ext cx="1097280" cy="109728"/>
          </a:xfrm>
          <a:prstGeom prst="rect">
            <a:avLst/>
          </a:prstGeom>
          <a:solidFill>
            <a:srgbClr val="E1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74720" y="1417320"/>
            <a:ext cx="25146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1645920"/>
            <a:ext cx="2148840" cy="256032"/>
          </a:xfrm>
          <a:prstGeom prst="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94759" y="1728216"/>
            <a:ext cx="73152" cy="73152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931920" y="1728216"/>
            <a:ext cx="73152" cy="73152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69080" y="1728216"/>
            <a:ext cx="73152" cy="73152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49039" y="2240280"/>
            <a:ext cx="1965960" cy="914400"/>
          </a:xfrm>
          <a:prstGeom prst="roundRect">
            <a:avLst/>
          </a:prstGeom>
          <a:solidFill>
            <a:srgbClr val="E1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59" y="342900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CBEB4"/>
                </a:solidFill>
                <a:latin typeface="Aptos"/>
              </a:defRPr>
            </a:pPr>
            <a:r>
              <a:t>SUBJECTS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59" y="3977639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97184"/>
                </a:solidFill>
                <a:latin typeface="Aptos"/>
              </a:defRPr>
            </a:pPr>
            <a:r>
              <a:t>Organize study areas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4800600"/>
            <a:ext cx="1645920" cy="109728"/>
          </a:xfrm>
          <a:prstGeom prst="rect">
            <a:avLst/>
          </a:prstGeom>
          <a:solidFill>
            <a:srgbClr val="E1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86200" y="5029200"/>
            <a:ext cx="1371600" cy="109728"/>
          </a:xfrm>
          <a:prstGeom prst="rect">
            <a:avLst/>
          </a:prstGeom>
          <a:solidFill>
            <a:srgbClr val="E1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86200" y="5257800"/>
            <a:ext cx="1097280" cy="109728"/>
          </a:xfrm>
          <a:prstGeom prst="rect">
            <a:avLst/>
          </a:prstGeom>
          <a:solidFill>
            <a:srgbClr val="E1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55080" y="1417320"/>
            <a:ext cx="25146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37960" y="1645920"/>
            <a:ext cx="2148840" cy="256032"/>
          </a:xfrm>
          <a:prstGeom prst="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75120" y="1728216"/>
            <a:ext cx="73152" cy="73152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12280" y="1728216"/>
            <a:ext cx="73152" cy="73152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49440" y="1728216"/>
            <a:ext cx="73152" cy="73152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29400" y="2240280"/>
            <a:ext cx="1965960" cy="914400"/>
          </a:xfrm>
          <a:prstGeom prst="roundRect">
            <a:avLst/>
          </a:prstGeom>
          <a:solidFill>
            <a:srgbClr val="FF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42900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57D68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977639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97184"/>
                </a:solidFill>
                <a:latin typeface="Aptos"/>
              </a:defRPr>
            </a:pPr>
            <a:r>
              <a:t>Track study 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4800600"/>
            <a:ext cx="1645920" cy="109728"/>
          </a:xfrm>
          <a:prstGeom prst="rect">
            <a:avLst/>
          </a:prstGeom>
          <a:solidFill>
            <a:srgbClr val="E1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60" y="5029200"/>
            <a:ext cx="1371600" cy="109728"/>
          </a:xfrm>
          <a:prstGeom prst="rect">
            <a:avLst/>
          </a:prstGeom>
          <a:solidFill>
            <a:srgbClr val="E1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66560" y="5257800"/>
            <a:ext cx="1097280" cy="109728"/>
          </a:xfrm>
          <a:prstGeom prst="rect">
            <a:avLst/>
          </a:prstGeom>
          <a:solidFill>
            <a:srgbClr val="E1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235440" y="1417320"/>
            <a:ext cx="25146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18319" y="1645920"/>
            <a:ext cx="2148840" cy="256032"/>
          </a:xfrm>
          <a:prstGeom prst="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55480" y="1728216"/>
            <a:ext cx="73152" cy="73152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92640" y="1728216"/>
            <a:ext cx="73152" cy="73152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829800" y="1728216"/>
            <a:ext cx="73152" cy="73152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09760" y="2240280"/>
            <a:ext cx="1965960" cy="914400"/>
          </a:xfrm>
          <a:prstGeom prst="roundRect">
            <a:avLst/>
          </a:prstGeom>
          <a:solidFill>
            <a:srgbClr val="EB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342900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856D6"/>
                </a:solidFill>
                <a:latin typeface="Aptos"/>
              </a:defRPr>
            </a:pPr>
            <a:r>
              <a:t>SCHEDULE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5480" y="3977639"/>
            <a:ext cx="187451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97184"/>
                </a:solidFill>
                <a:latin typeface="Aptos"/>
              </a:defRPr>
            </a:pPr>
            <a:r>
              <a:t>Plan the day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6919" y="4800600"/>
            <a:ext cx="1645920" cy="109728"/>
          </a:xfrm>
          <a:prstGeom prst="rect">
            <a:avLst/>
          </a:prstGeom>
          <a:solidFill>
            <a:srgbClr val="E1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46919" y="5029200"/>
            <a:ext cx="1371600" cy="109728"/>
          </a:xfrm>
          <a:prstGeom prst="rect">
            <a:avLst/>
          </a:prstGeom>
          <a:solidFill>
            <a:srgbClr val="E1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46919" y="5257800"/>
            <a:ext cx="1097280" cy="109728"/>
          </a:xfrm>
          <a:prstGeom prst="rect">
            <a:avLst/>
          </a:prstGeom>
          <a:solidFill>
            <a:srgbClr val="E1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856D6"/>
                </a:solidFill>
                <a:latin typeface="Aptos"/>
              </a:defRPr>
            </a:pPr>
            <a:r>
              <a:t>WHAT I GAINED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C34"/>
                </a:solidFill>
                <a:latin typeface="Aptos Display"/>
              </a:defRPr>
            </a:pPr>
            <a:r>
              <a:t>Skills strengthened during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1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1C34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417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97184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444752"/>
            <a:ext cx="6035040" cy="256032"/>
          </a:xfrm>
          <a:prstGeom prst="rect">
            <a:avLst/>
          </a:prstGeom>
          <a:solidFill>
            <a:srgbClr val="E4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444752"/>
            <a:ext cx="5552236" cy="256032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78440" y="139903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856D6"/>
                </a:solidFill>
                <a:latin typeface="Aptos"/>
              </a:defRPr>
            </a:pPr>
            <a:r>
              <a:t>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1C34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2402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97184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267712"/>
            <a:ext cx="6035040" cy="256032"/>
          </a:xfrm>
          <a:prstGeom prst="rect">
            <a:avLst/>
          </a:prstGeom>
          <a:solidFill>
            <a:srgbClr val="E4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2267712"/>
            <a:ext cx="5190134" cy="256032"/>
          </a:xfrm>
          <a:prstGeom prst="rect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222199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2CBEB4"/>
                </a:solidFill>
                <a:latin typeface="Aptos"/>
              </a:defRPr>
            </a:pPr>
            <a:r>
              <a:t>86%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6324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1C34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063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97184"/>
                </a:solidFill>
                <a:latin typeface="Aptos"/>
              </a:defRPr>
            </a:pPr>
            <a:r>
              <a:t>Interactivity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0" y="3090672"/>
            <a:ext cx="6035040" cy="256032"/>
          </a:xfrm>
          <a:prstGeom prst="rect">
            <a:avLst/>
          </a:prstGeom>
          <a:solidFill>
            <a:srgbClr val="E4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0" y="3090672"/>
            <a:ext cx="4707331" cy="256032"/>
          </a:xfrm>
          <a:prstGeom prst="rect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3044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F57D68"/>
                </a:solidFill>
                <a:latin typeface="Aptos"/>
              </a:defRPr>
            </a:pPr>
            <a:r>
              <a:t>78%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1C34"/>
                </a:solidFill>
                <a:latin typeface="Aptos"/>
              </a:defRPr>
            </a:pPr>
            <a:r>
              <a:t>Debugging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886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97184"/>
                </a:solidFill>
                <a:latin typeface="Aptos"/>
              </a:defRPr>
            </a:pPr>
            <a:r>
              <a:t>Problem solving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913632"/>
            <a:ext cx="6035040" cy="256032"/>
          </a:xfrm>
          <a:prstGeom prst="rect">
            <a:avLst/>
          </a:prstGeom>
          <a:solidFill>
            <a:srgbClr val="E4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3913632"/>
            <a:ext cx="4345228" cy="256032"/>
          </a:xfrm>
          <a:prstGeom prst="rect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38679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5856D6"/>
                </a:solidFill>
                <a:latin typeface="Aptos"/>
              </a:defRPr>
            </a:pPr>
            <a:r>
              <a:t>72%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091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41C34"/>
                </a:solidFill>
                <a:latin typeface="Aptos"/>
              </a:defRPr>
            </a:pPr>
            <a:r>
              <a:t>VS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709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97184"/>
                </a:solidFill>
                <a:latin typeface="Aptos"/>
              </a:defRPr>
            </a:pPr>
            <a:r>
              <a:t>Development workflow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4736592"/>
            <a:ext cx="6035040" cy="256032"/>
          </a:xfrm>
          <a:prstGeom prst="rect">
            <a:avLst/>
          </a:prstGeom>
          <a:solidFill>
            <a:srgbClr val="E4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0" y="4736592"/>
            <a:ext cx="5310835" cy="256032"/>
          </a:xfrm>
          <a:prstGeom prst="rect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469087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2CBEB4"/>
                </a:solidFill>
                <a:latin typeface="Aptos"/>
              </a:defRPr>
            </a:pPr>
            <a:r>
              <a:t>88%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0644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97184"/>
                </a:solidFill>
                <a:latin typeface="Aptos"/>
              </a:defRPr>
            </a:pPr>
            <a:r>
              <a:t>Indicative self-assessment of confidence after completing the project — not measured performance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856D6"/>
                </a:solidFill>
                <a:latin typeface="Aptos"/>
              </a:defRPr>
            </a:pPr>
            <a: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C34"/>
                </a:solidFill>
                <a:latin typeface="Aptos Display"/>
              </a:defRPr>
            </a:pPr>
            <a:r>
              <a:t>What the internship helped me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18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5856D6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41C34"/>
                </a:solidFill>
                <a:latin typeface="Aptos"/>
              </a:defRPr>
            </a:pPr>
            <a:r>
              <a:t>Write and structure web pages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CBEB4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24028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41C34"/>
                </a:solidFill>
                <a:latin typeface="Aptos"/>
              </a:defRPr>
            </a:pPr>
            <a:r>
              <a:t>Create a clean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647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57D68"/>
                </a:solidFill>
                <a:latin typeface="Aptos"/>
              </a:defRPr>
            </a:pPr>
            <a:r>
              <a:t>DEBUG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4028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41C34"/>
                </a:solidFill>
                <a:latin typeface="Aptos"/>
              </a:defRPr>
            </a:pPr>
            <a:r>
              <a:t>Find and fix issues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307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5856D6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41C34"/>
                </a:solidFill>
                <a:latin typeface="Aptos"/>
              </a:defRPr>
            </a:pPr>
            <a:r>
              <a:t>Turn an idea into a working project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347472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73075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2CBEB4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20624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41C34"/>
                </a:solidFill>
                <a:latin typeface="Aptos"/>
              </a:defRPr>
            </a:pPr>
            <a:r>
              <a:t>Present technical work clearly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0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856D6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41C34"/>
                </a:solidFill>
                <a:latin typeface="Aptos Display"/>
              </a:defRPr>
            </a:pPr>
            <a:r>
              <a:t>Where StudyMate can go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18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1417320" y="1554480"/>
            <a:ext cx="685800" cy="68580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78308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1C34"/>
                </a:solidFill>
                <a:latin typeface="Aptos"/>
              </a:defRPr>
            </a:pPr>
            <a:r>
              <a:t>Responsive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97184"/>
                </a:solidFill>
                <a:latin typeface="Aptos"/>
              </a:defRPr>
            </a:pPr>
            <a:r>
              <a:t>Better experience across phones and tablets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48840" y="1901952"/>
            <a:ext cx="777240" cy="0"/>
          </a:xfrm>
          <a:prstGeom prst="line">
            <a:avLst/>
          </a:prstGeom>
          <a:ln>
            <a:solidFill>
              <a:srgbClr val="69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703320" y="1554480"/>
            <a:ext cx="685800" cy="685800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78308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1C34"/>
                </a:solidFill>
                <a:latin typeface="Aptos"/>
              </a:defRPr>
            </a:pPr>
            <a:r>
              <a:t>Login +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2461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97184"/>
                </a:solidFill>
                <a:latin typeface="Aptos"/>
              </a:defRPr>
            </a:pPr>
            <a:r>
              <a:t>Personal study spaces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34840" y="1901952"/>
            <a:ext cx="777240" cy="0"/>
          </a:xfrm>
          <a:prstGeom prst="line">
            <a:avLst/>
          </a:prstGeom>
          <a:ln>
            <a:solidFill>
              <a:srgbClr val="69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989320" y="1554480"/>
            <a:ext cx="685800" cy="685800"/>
          </a:xfrm>
          <a:prstGeom prst="ellipse">
            <a:avLst/>
          </a:prstGeom>
          <a:solidFill>
            <a:srgbClr val="F5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78308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6060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1C34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2461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97184"/>
                </a:solidFill>
                <a:latin typeface="Aptos"/>
              </a:defRPr>
            </a:pPr>
            <a:r>
              <a:t>Save tasks and schedules persistently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20840" y="1901952"/>
            <a:ext cx="777239" cy="0"/>
          </a:xfrm>
          <a:prstGeom prst="line">
            <a:avLst/>
          </a:prstGeom>
          <a:ln>
            <a:solidFill>
              <a:srgbClr val="69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275320" y="1554480"/>
            <a:ext cx="685800" cy="68580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78308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6060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1C34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32461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97184"/>
                </a:solidFill>
                <a:latin typeface="Aptos"/>
              </a:defRPr>
            </a:pPr>
            <a:r>
              <a:t>Reminders for upcoming tasks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06840" y="1901952"/>
            <a:ext cx="777240" cy="0"/>
          </a:xfrm>
          <a:prstGeom prst="line">
            <a:avLst/>
          </a:prstGeom>
          <a:ln>
            <a:solidFill>
              <a:srgbClr val="6971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561320" y="1554480"/>
            <a:ext cx="685800" cy="685800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61320" y="1783080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60604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41C34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24612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97184"/>
                </a:solidFill>
                <a:latin typeface="Aptos"/>
              </a:defRPr>
            </a:pPr>
            <a:r>
              <a:t>Track study progress over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98348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5856D6"/>
                </a:solidFill>
                <a:latin typeface="Aptos"/>
              </a:defRPr>
            </a:pPr>
            <a:r>
              <a:t>A simple front-end project today → a smarter personal study platform tomorrow.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457200"/>
            <a:ext cx="2560320" cy="2560320"/>
          </a:xfrm>
          <a:prstGeom prst="ellipse">
            <a:avLst/>
          </a:prstGeom>
          <a:solidFill>
            <a:srgbClr val="585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5394960"/>
            <a:ext cx="1828800" cy="1828800"/>
          </a:xfrm>
          <a:prstGeom prst="ellipse">
            <a:avLst/>
          </a:prstGeom>
          <a:solidFill>
            <a:srgbClr val="2C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CBEB4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667512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t>Learn it.</a:t>
            </a:r>
            <a:br/>
            <a:r>
              <a:t>Build it.</a:t>
            </a:r>
            <a:br/>
            <a:r>
              <a:t>Explain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6583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CE1F5"/>
                </a:solidFill>
                <a:latin typeface="Aptos"/>
              </a:defRPr>
            </a:pPr>
            <a:r>
              <a:t>The internship gave me practical experience in web development, and StudyMate gave me a way to apply those skills in a real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2560320" cy="2560320"/>
          </a:xfrm>
          <a:prstGeom prst="roundRect">
            <a:avLst/>
          </a:prstGeom>
          <a:solidFill>
            <a:srgbClr val="1F2A48"/>
          </a:solidFill>
          <a:ln>
            <a:solidFill>
              <a:srgbClr val="3E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4231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STUDYMATE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97180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2CBEB4"/>
                </a:solidFill>
                <a:latin typeface="Aptos"/>
              </a:defRPr>
            </a:pPr>
            <a:r>
              <a:t>Student</a:t>
            </a:r>
            <a:br/>
            <a:r>
              <a:t>Study 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THANK YOU  •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